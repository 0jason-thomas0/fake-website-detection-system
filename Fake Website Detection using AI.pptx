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3" r:id="rId4"/>
    <p:sldId id="262" r:id="rId5"/>
    <p:sldId id="259" r:id="rId6"/>
    <p:sldId id="260" r:id="rId7"/>
    <p:sldId id="266" r:id="rId8"/>
    <p:sldId id="267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1578"/>
    <a:srgbClr val="FF6600"/>
    <a:srgbClr val="FF0066"/>
    <a:srgbClr val="F3F7FF"/>
    <a:srgbClr val="DDE8FF"/>
    <a:srgbClr val="F3FAFF"/>
    <a:srgbClr val="E7F5FF"/>
    <a:srgbClr val="CDEAFF"/>
    <a:srgbClr val="FEF8FC"/>
    <a:srgbClr val="FC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BF8BE-04DD-4311-BA18-2B83E4583823}" v="225" dt="2026-06-26T16:52:30.582"/>
    <p1510:client id="{D1763C95-566D-4AF5-98BC-669445C7CBCD}" v="13" dt="2026-06-27T04:18:26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1F40F-165E-40CE-AF84-6CDB68BF8700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F90F1-2467-457D-99A5-5A9343904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343C-8127-1258-E9DF-EE5FBB973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6CF94-B4A4-7FB2-3E23-B287C5F6E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7579-6D5E-5D38-4156-0A63CE33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69B0-AE88-EBAB-1331-035CAEC8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ADCF-9A84-5546-D595-ED3A7C1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AC58-4E75-B9B4-DD8B-4D25F604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D94A-A679-5F94-E4F6-8DD7AA86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7952-64D6-6E1D-61AF-B7D79DB1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82CD7-F904-E353-548C-CACAD9D1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3595-DC14-D85B-D84A-2DF824ED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2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476-CF38-1D79-ED27-C733048D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8F996-4D87-8A99-8A9A-01379E37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56F3-D2F0-52E7-DC1B-0C486FFB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7E55-4628-1157-274A-3EF14585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53F6C-BA0B-A877-BF17-8B45E9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8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4AF7-7823-341A-3744-75DC63C3A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FEFD-F9C3-3DAE-858E-00D887944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D1562-ABF0-CC28-D2C4-C633152C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EE5AA-EA07-6D83-B362-B76F665A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3023A-F339-B53D-7E4A-2444445A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2E6C6-AB7F-4959-6D62-21B78754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9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9E3A-6BB5-BA55-C8E7-1830CB5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67B83-98A9-9B9C-5C0C-9733C5EC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E86CD-DA3D-D391-8FAA-38FBA9CFF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1F7CF-FE7E-CE5D-EF9C-9E2D7FD39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48E8C-68D9-E64F-1BE4-B9C265D36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CF674-9A3A-3044-645F-E8052F9B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B99EB-4BF6-48AE-D4AC-8C09B612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6F228-AB23-AF97-9C06-8CCB6934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7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DD9D-E95C-3CDA-6C7A-23542737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E453C-3392-3A29-A015-13DB08E6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D47A0-CF43-F356-0270-F4DF4727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9356C-6631-9C3A-AE27-AD51D4C1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0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D4A0C-5A28-2B3C-8975-67D09ED1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47152-AF98-DFA8-628D-8204B135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8FA1-05D6-E569-A37A-E51368C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2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BF50-0C1D-BD91-DD07-B1F880FE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D7D4-BDCA-BC98-E234-3EE780F0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94E5-BD7D-58BF-E1E3-217A84801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7B03F-ADE7-373C-C062-83B1106B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AD0E-F03E-82E7-CB51-F87CA422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C2178-89AE-2D65-3C8A-C80DD8C2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4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942F-D40E-0AA3-0409-4AD39B39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3E1BA-37F0-2DEA-B7FE-7FD565BFC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AE0E8-D94A-3534-C8B6-58AE529E7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DCC99-9E10-09F9-AD30-FF6E9144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F6FBC-07D0-7226-C83D-F484DE16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8E6EC-1C36-2D56-53B9-AAC08C98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ED5E-E518-1462-9F03-02EB2A35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73FA3-723E-3C3F-511B-0B95F1BD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E419-E8D7-3672-2612-A7604BE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8BAEA-896A-AD8A-285C-C9D9ACED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B0A7-2238-48EC-922E-1EB2F121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D2BAD-FA66-E62B-2199-72CACB838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04CA8-A123-79DB-FECA-162237D1B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22216-AD79-4A9C-5C9A-1DDECCB8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00899-63C0-CE8F-6DB3-E5957E1E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2E4F-8D10-2A48-F1B7-063AF1AE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0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11D91-9AC8-31CA-8712-A7ECA0E4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4E577-CF97-9AEF-4526-D8738FE5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AAA1C-BFE5-D2C1-7E75-080D51409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ACD0C-F12A-4D68-B39F-1F8622420AB4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E625-6497-CFBC-C695-85968D6B8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110E-1343-465B-DA09-01A34C241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afebrowsing.google.com/" TargetMode="External"/><Relationship Id="rId5" Type="http://schemas.openxmlformats.org/officeDocument/2006/relationships/hyperlink" Target="https://ieeexplore.ieee.org/" TargetMode="External"/><Relationship Id="rId4" Type="http://schemas.openxmlformats.org/officeDocument/2006/relationships/hyperlink" Target="https://scikit-learn.or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0563-83A6-EA20-0896-20220B48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6996BB-8738-0D83-66E9-F18820362BAC}"/>
              </a:ext>
            </a:extLst>
          </p:cNvPr>
          <p:cNvSpPr/>
          <p:nvPr/>
        </p:nvSpPr>
        <p:spPr>
          <a:xfrm>
            <a:off x="1165123" y="1425678"/>
            <a:ext cx="9861754" cy="686626"/>
          </a:xfrm>
          <a:custGeom>
            <a:avLst/>
            <a:gdLst>
              <a:gd name="csX0" fmla="*/ 283503 w 9861754"/>
              <a:gd name="csY0" fmla="*/ 0 h 686626"/>
              <a:gd name="csX1" fmla="*/ 9578251 w 9861754"/>
              <a:gd name="csY1" fmla="*/ 0 h 686626"/>
              <a:gd name="csX2" fmla="*/ 9861754 w 9861754"/>
              <a:gd name="csY2" fmla="*/ 283503 h 686626"/>
              <a:gd name="csX3" fmla="*/ 9861754 w 9861754"/>
              <a:gd name="csY3" fmla="*/ 686626 h 686626"/>
              <a:gd name="csX4" fmla="*/ 9578251 w 9861754"/>
              <a:gd name="csY4" fmla="*/ 403123 h 686626"/>
              <a:gd name="csX5" fmla="*/ 283503 w 9861754"/>
              <a:gd name="csY5" fmla="*/ 403123 h 686626"/>
              <a:gd name="csX6" fmla="*/ 0 w 9861754"/>
              <a:gd name="csY6" fmla="*/ 686626 h 686626"/>
              <a:gd name="csX7" fmla="*/ 0 w 9861754"/>
              <a:gd name="csY7" fmla="*/ 283503 h 686626"/>
              <a:gd name="csX8" fmla="*/ 283503 w 9861754"/>
              <a:gd name="csY8" fmla="*/ 0 h 686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861754" h="686626">
                <a:moveTo>
                  <a:pt x="283503" y="0"/>
                </a:moveTo>
                <a:lnTo>
                  <a:pt x="9578251" y="0"/>
                </a:lnTo>
                <a:cubicBezTo>
                  <a:pt x="9734825" y="0"/>
                  <a:pt x="9861754" y="126929"/>
                  <a:pt x="9861754" y="283503"/>
                </a:cubicBezTo>
                <a:lnTo>
                  <a:pt x="9861754" y="686626"/>
                </a:lnTo>
                <a:cubicBezTo>
                  <a:pt x="9861754" y="530052"/>
                  <a:pt x="9734825" y="403123"/>
                  <a:pt x="9578251" y="403123"/>
                </a:cubicBezTo>
                <a:lnTo>
                  <a:pt x="283503" y="403123"/>
                </a:lnTo>
                <a:cubicBezTo>
                  <a:pt x="126929" y="403123"/>
                  <a:pt x="0" y="530052"/>
                  <a:pt x="0" y="686626"/>
                </a:cubicBezTo>
                <a:lnTo>
                  <a:pt x="0" y="283503"/>
                </a:lnTo>
                <a:cubicBezTo>
                  <a:pt x="0" y="126929"/>
                  <a:pt x="126929" y="0"/>
                  <a:pt x="283503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5AAC5A-7ED0-68F8-8AC5-F388BC2FE97C}"/>
              </a:ext>
            </a:extLst>
          </p:cNvPr>
          <p:cNvSpPr/>
          <p:nvPr/>
        </p:nvSpPr>
        <p:spPr>
          <a:xfrm>
            <a:off x="1165123" y="1828801"/>
            <a:ext cx="9861754" cy="1700981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Fake</a:t>
            </a:r>
            <a:r>
              <a:rPr lang="en-IN" sz="4000" b="1" dirty="0">
                <a:solidFill>
                  <a:schemeClr val="tx1"/>
                </a:solidFill>
                <a:ea typeface="+mn-lt"/>
                <a:cs typeface="+mn-lt"/>
              </a:rPr>
              <a:t> Website Detection System Using Artificial Intelligence</a:t>
            </a:r>
            <a:endParaRPr lang="en-IN" sz="4000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31C8AA7-8A00-43DA-CB19-F61E86F71520}"/>
              </a:ext>
            </a:extLst>
          </p:cNvPr>
          <p:cNvSpPr/>
          <p:nvPr/>
        </p:nvSpPr>
        <p:spPr>
          <a:xfrm>
            <a:off x="1435509" y="1496553"/>
            <a:ext cx="2196000" cy="28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pc="300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F359E9-B6DD-9EEB-2E3E-7BE5FDBEC5AC}"/>
              </a:ext>
            </a:extLst>
          </p:cNvPr>
          <p:cNvSpPr/>
          <p:nvPr/>
        </p:nvSpPr>
        <p:spPr>
          <a:xfrm>
            <a:off x="4575968" y="1496553"/>
            <a:ext cx="6120000" cy="288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pc="3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AD4V71 - Machine Learning Operations (</a:t>
            </a:r>
            <a:r>
              <a:rPr lang="en-IN" sz="1400" b="1" spc="3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MLOps</a:t>
            </a:r>
            <a:r>
              <a:rPr lang="en-IN" sz="1400" b="1" spc="3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4FF3B8A7-62C3-3747-13B5-05CE7377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386" y="3564197"/>
            <a:ext cx="7079227" cy="2520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ctr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7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/>
                <a:cs typeface="Times New Roman"/>
              </a:rPr>
              <a:t>Team Member 1 Name	:</a:t>
            </a:r>
            <a:r>
              <a:rPr lang="en-US" altLang="en-US" sz="1500" b="1">
                <a:solidFill>
                  <a:srgbClr val="00B0F0"/>
                </a:solidFill>
                <a:latin typeface="Times New Roman"/>
                <a:cs typeface="Times New Roman"/>
              </a:rPr>
              <a:t>Jason Thomas</a:t>
            </a:r>
            <a:endParaRPr lang="en-US" altLang="en-US" sz="1500" b="1" dirty="0" err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/>
                <a:cs typeface="Times New Roman"/>
              </a:rPr>
              <a:t>Team Member 1 </a:t>
            </a:r>
            <a:r>
              <a:rPr lang="en-US" altLang="en-US" sz="1500" b="1" dirty="0" err="1">
                <a:solidFill>
                  <a:srgbClr val="00B0F0"/>
                </a:solidFill>
                <a:latin typeface="Times New Roman"/>
                <a:cs typeface="Times New Roman"/>
              </a:rPr>
              <a:t>Regd</a:t>
            </a:r>
            <a:r>
              <a:rPr lang="en-US" altLang="en-US" sz="1500" b="1" dirty="0">
                <a:solidFill>
                  <a:srgbClr val="00B0F0"/>
                </a:solidFill>
                <a:latin typeface="Times New Roman"/>
                <a:cs typeface="Times New Roman"/>
              </a:rPr>
              <a:t> No.	: 24AD0110</a:t>
            </a:r>
            <a:endParaRPr lang="en-US" altLang="en-US" sz="15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>
                <a:solidFill>
                  <a:srgbClr val="00B0F0"/>
                </a:solidFill>
                <a:latin typeface="Times New Roman"/>
                <a:cs typeface="Times New Roman"/>
              </a:rPr>
              <a:t>Team Member 1 Section	: C</a:t>
            </a:r>
            <a:endParaRPr lang="en-US" altLang="en-US" sz="1500" b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/>
                <a:cs typeface="Times New Roman"/>
              </a:rPr>
              <a:t>Team Member 2 Name	:</a:t>
            </a:r>
            <a:r>
              <a:rPr lang="en-US" altLang="en-US" sz="1500" b="1">
                <a:solidFill>
                  <a:srgbClr val="00B0F0"/>
                </a:solidFill>
                <a:latin typeface="Times New Roman"/>
                <a:cs typeface="Times New Roman"/>
              </a:rPr>
              <a:t>Bobby Anderson</a:t>
            </a:r>
            <a:endParaRPr lang="en-US" altLang="en-US" sz="1500" b="1" dirty="0" err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/>
                <a:cs typeface="Times New Roman"/>
              </a:rPr>
              <a:t>Team Member 2 </a:t>
            </a:r>
            <a:r>
              <a:rPr lang="en-US" altLang="en-US" sz="1500" b="1" dirty="0" err="1">
                <a:solidFill>
                  <a:srgbClr val="00B0F0"/>
                </a:solidFill>
                <a:latin typeface="Times New Roman"/>
                <a:cs typeface="Times New Roman"/>
              </a:rPr>
              <a:t>Regd</a:t>
            </a:r>
            <a:r>
              <a:rPr lang="en-US" altLang="en-US" sz="1500" b="1" dirty="0">
                <a:solidFill>
                  <a:srgbClr val="00B0F0"/>
                </a:solidFill>
                <a:latin typeface="Times New Roman"/>
                <a:cs typeface="Times New Roman"/>
              </a:rPr>
              <a:t> No.	: 24AD0104</a:t>
            </a:r>
            <a:endParaRPr lang="en-US" altLang="en-US" sz="15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>
                <a:solidFill>
                  <a:srgbClr val="00B0F0"/>
                </a:solidFill>
                <a:latin typeface="Times New Roman"/>
                <a:cs typeface="Times New Roman"/>
              </a:rPr>
              <a:t>Team Member 2 Section	: C</a:t>
            </a:r>
            <a:endParaRPr lang="en-US" altLang="en-US" sz="1500" b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47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D572-E9A6-80A3-3108-E6249327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Identification and Title Justification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F6F9EB-29FA-2E6E-4AD4-D893A5BF3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976203"/>
            <a:ext cx="11486301" cy="53459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b="1"/>
              <a:t>Relevance of the Problem</a:t>
            </a:r>
            <a:endParaRPr lang="en-IN" dirty="0"/>
          </a:p>
          <a:p>
            <a:r>
              <a:rPr lang="en-IN">
                <a:ea typeface="+mn-lt"/>
                <a:cs typeface="+mn-lt"/>
              </a:rPr>
              <a:t>Fake websites steal personal and financial data. </a:t>
            </a:r>
          </a:p>
          <a:p>
            <a:r>
              <a:rPr lang="en-IN">
                <a:ea typeface="+mn-lt"/>
                <a:cs typeface="+mn-lt"/>
              </a:rPr>
              <a:t>Users often cannot identify phishing sites. </a:t>
            </a:r>
          </a:p>
          <a:p>
            <a:r>
              <a:rPr lang="en-IN">
                <a:ea typeface="+mn-lt"/>
                <a:cs typeface="+mn-lt"/>
              </a:rPr>
              <a:t>AI enables faster and more accurate detection. </a:t>
            </a:r>
          </a:p>
          <a:p>
            <a:pPr marL="0" indent="0">
              <a:buNone/>
            </a:pPr>
            <a:r>
              <a:rPr lang="en-IN" b="1"/>
              <a:t> Clarity of Problem Statement</a:t>
            </a:r>
            <a:endParaRPr lang="en-IN"/>
          </a:p>
          <a:p>
            <a:r>
              <a:rPr lang="en-IN">
                <a:ea typeface="+mn-lt"/>
                <a:cs typeface="+mn-lt"/>
              </a:rPr>
              <a:t>Build an AI system to classify websites as Legitimate or Fake using URL and webpage features. </a:t>
            </a:r>
          </a:p>
          <a:p>
            <a:pPr marL="0" indent="0">
              <a:buNone/>
            </a:pPr>
            <a:r>
              <a:rPr lang="en-IN" b="1"/>
              <a:t>Justification of Project Title &amp; Scope</a:t>
            </a:r>
            <a:endParaRPr lang="en-IN"/>
          </a:p>
          <a:p>
            <a:r>
              <a:rPr lang="en-IN">
                <a:ea typeface="+mn-lt"/>
                <a:cs typeface="+mn-lt"/>
              </a:rPr>
              <a:t>The title reflects the use of AI for phishing website detection. </a:t>
            </a:r>
          </a:p>
          <a:p>
            <a:r>
              <a:rPr lang="en-IN">
                <a:ea typeface="+mn-lt"/>
                <a:cs typeface="+mn-lt"/>
              </a:rPr>
              <a:t>Scope includes website analysis, AI-based classification, </a:t>
            </a:r>
            <a:r>
              <a:rPr lang="en-IN" sz="2800">
                <a:ea typeface="+mn-lt"/>
                <a:cs typeface="+mn-lt"/>
              </a:rPr>
              <a:t>and user </a:t>
            </a:r>
            <a:r>
              <a:rPr lang="en-IN">
                <a:ea typeface="+mn-lt"/>
                <a:cs typeface="+mn-lt"/>
              </a:rPr>
              <a:t>alerts to improve online </a:t>
            </a:r>
            <a:r>
              <a:rPr lang="en-IN" sz="2800">
                <a:ea typeface="+mn-lt"/>
                <a:cs typeface="+mn-lt"/>
              </a:rPr>
              <a:t>safety.</a:t>
            </a:r>
            <a:endParaRPr lang="en-IN">
              <a:ea typeface="+mn-lt"/>
              <a:cs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950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3EFA-F30B-ABC2-3E3E-D2D402AB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8B2E-7046-F166-0F2C-D7284DA7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Identification and Title Justification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3BA888-C95F-7FF5-8D24-31C01885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01" y="1469688"/>
            <a:ext cx="11471787" cy="4721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IN" b="1">
                <a:ea typeface="+mn-lt"/>
                <a:cs typeface="+mn-lt"/>
              </a:rPr>
              <a:t>Artificial Intelligence (AI):</a:t>
            </a:r>
            <a:r>
              <a:rPr lang="en-IN">
                <a:ea typeface="+mn-lt"/>
                <a:cs typeface="+mn-lt"/>
              </a:rPr>
              <a:t> Uses machine learning to identify patterns in website data. </a:t>
            </a:r>
            <a:endParaRPr lang="en-US"/>
          </a:p>
          <a:p>
            <a:pPr>
              <a:buFont typeface="Arial"/>
              <a:buChar char="•"/>
            </a:pPr>
            <a:r>
              <a:rPr lang="en-IN" b="1">
                <a:ea typeface="+mn-lt"/>
                <a:cs typeface="+mn-lt"/>
              </a:rPr>
              <a:t>Phishing Websites:</a:t>
            </a:r>
            <a:r>
              <a:rPr lang="en-IN">
                <a:ea typeface="+mn-lt"/>
                <a:cs typeface="+mn-lt"/>
              </a:rPr>
              <a:t> Fake websites designed to steal sensitive user information. </a:t>
            </a:r>
            <a:endParaRPr lang="en-IN"/>
          </a:p>
          <a:p>
            <a:pPr>
              <a:buFont typeface="Arial"/>
              <a:buChar char="•"/>
            </a:pPr>
            <a:r>
              <a:rPr lang="en-IN" b="1" dirty="0">
                <a:ea typeface="+mn-lt"/>
                <a:cs typeface="+mn-lt"/>
              </a:rPr>
              <a:t>Feature Extraction:</a:t>
            </a:r>
            <a:r>
              <a:rPr lang="en-IN" dirty="0">
                <a:ea typeface="+mn-lt"/>
                <a:cs typeface="+mn-lt"/>
              </a:rPr>
              <a:t> </a:t>
            </a:r>
            <a:r>
              <a:rPr lang="en-IN" dirty="0" err="1">
                <a:ea typeface="+mn-lt"/>
                <a:cs typeface="+mn-lt"/>
              </a:rPr>
              <a:t>Analyzes</a:t>
            </a:r>
            <a:r>
              <a:rPr lang="en-IN" dirty="0">
                <a:ea typeface="+mn-lt"/>
                <a:cs typeface="+mn-lt"/>
              </a:rPr>
              <a:t> URL length, HTTPS status, domain age, and suspicious keywords. </a:t>
            </a:r>
            <a:endParaRPr lang="en-IN" dirty="0"/>
          </a:p>
          <a:p>
            <a:pPr>
              <a:buFont typeface="Arial"/>
              <a:buChar char="•"/>
            </a:pPr>
            <a:r>
              <a:rPr lang="en-IN" b="1">
                <a:ea typeface="+mn-lt"/>
                <a:cs typeface="+mn-lt"/>
              </a:rPr>
              <a:t>Machine Learning Classification:</a:t>
            </a:r>
            <a:r>
              <a:rPr lang="en-IN">
                <a:ea typeface="+mn-lt"/>
                <a:cs typeface="+mn-lt"/>
              </a:rPr>
              <a:t> Predicts whether a website is </a:t>
            </a:r>
            <a:r>
              <a:rPr lang="en-IN" b="1">
                <a:ea typeface="+mn-lt"/>
                <a:cs typeface="+mn-lt"/>
              </a:rPr>
              <a:t>Legitimate</a:t>
            </a:r>
            <a:r>
              <a:rPr lang="en-IN">
                <a:ea typeface="+mn-lt"/>
                <a:cs typeface="+mn-lt"/>
              </a:rPr>
              <a:t> or </a:t>
            </a:r>
            <a:r>
              <a:rPr lang="en-IN" b="1">
                <a:ea typeface="+mn-lt"/>
                <a:cs typeface="+mn-lt"/>
              </a:rPr>
              <a:t>Fake</a:t>
            </a:r>
            <a:r>
              <a:rPr lang="en-IN">
                <a:ea typeface="+mn-lt"/>
                <a:cs typeface="+mn-lt"/>
              </a:rPr>
              <a:t>. </a:t>
            </a:r>
            <a:endParaRPr lang="en-IN"/>
          </a:p>
          <a:p>
            <a:pPr>
              <a:buFont typeface="Arial"/>
              <a:buChar char="•"/>
            </a:pPr>
            <a:r>
              <a:rPr lang="en-IN" b="1">
                <a:ea typeface="+mn-lt"/>
                <a:cs typeface="+mn-lt"/>
              </a:rPr>
              <a:t>Cybersecurity:</a:t>
            </a:r>
            <a:r>
              <a:rPr lang="en-IN">
                <a:ea typeface="+mn-lt"/>
                <a:cs typeface="+mn-lt"/>
              </a:rPr>
              <a:t> Protects users from online threats and phishing attacks.</a:t>
            </a:r>
            <a:endParaRPr lang="en-IN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94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2D18-5736-B13B-9BAE-592388EF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9106-6964-3A58-AFB7-B90897BB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73" y="-3116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EB7CC7-CB46-187F-7A1A-A193756D9E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429326"/>
              </p:ext>
            </p:extLst>
          </p:nvPr>
        </p:nvGraphicFramePr>
        <p:xfrm>
          <a:off x="758372" y="1085397"/>
          <a:ext cx="10665276" cy="28172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55092">
                  <a:extLst>
                    <a:ext uri="{9D8B030D-6E8A-4147-A177-3AD203B41FA5}">
                      <a16:colId xmlns:a16="http://schemas.microsoft.com/office/drawing/2014/main" val="1576558179"/>
                    </a:ext>
                  </a:extLst>
                </a:gridCol>
                <a:gridCol w="3555092">
                  <a:extLst>
                    <a:ext uri="{9D8B030D-6E8A-4147-A177-3AD203B41FA5}">
                      <a16:colId xmlns:a16="http://schemas.microsoft.com/office/drawing/2014/main" val="3842017214"/>
                    </a:ext>
                  </a:extLst>
                </a:gridCol>
                <a:gridCol w="3555092">
                  <a:extLst>
                    <a:ext uri="{9D8B030D-6E8A-4147-A177-3AD203B41FA5}">
                      <a16:colId xmlns:a16="http://schemas.microsoft.com/office/drawing/2014/main" val="3473889015"/>
                    </a:ext>
                  </a:extLst>
                </a:gridCol>
              </a:tblGrid>
              <a:tr h="376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Existing System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Advantages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Disadvantages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669362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Blacklist-Based Detection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 and easy to implement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Cannot detect new phishing sites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880822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Rule-Based Systems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logic and low cost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 adaptability to new attacks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563907"/>
                  </a:ext>
                </a:extLst>
              </a:tr>
              <a:tr h="6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URL Feature Analysis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detection using URL patterns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miss advanced phishing sites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9433"/>
                  </a:ext>
                </a:extLst>
              </a:tr>
              <a:tr h="6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Machine Learning Models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Learns from data and improves accuracy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quality training data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708852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Deep Learning Approaches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detection performance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Computationally expensive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205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9E8787-0724-52E2-96FB-18D91E95823C}"/>
              </a:ext>
            </a:extLst>
          </p:cNvPr>
          <p:cNvSpPr txBox="1"/>
          <p:nvPr/>
        </p:nvSpPr>
        <p:spPr>
          <a:xfrm>
            <a:off x="660400" y="4147457"/>
            <a:ext cx="10210799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Research Gap</a:t>
            </a:r>
          </a:p>
          <a:p>
            <a:pPr>
              <a:buFont typeface=""/>
              <a:buChar char="•"/>
            </a:pPr>
            <a:r>
              <a:rPr lang="en-US" sz="2400"/>
              <a:t>Existing methods struggle with newly created phishing websites. </a:t>
            </a:r>
          </a:p>
          <a:p>
            <a:pPr>
              <a:buFont typeface=""/>
              <a:buChar char="•"/>
            </a:pPr>
            <a:r>
              <a:rPr lang="en-US" sz="2400"/>
              <a:t>Many systems rely only on blacklists or fixed rules. </a:t>
            </a:r>
          </a:p>
          <a:p>
            <a:pPr>
              <a:buFont typeface=""/>
              <a:buChar char="•"/>
            </a:pPr>
            <a:r>
              <a:rPr lang="en-US" sz="2400"/>
              <a:t>AI-based detection can identify previously unseen threats with better accuracy.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6729-155D-0751-EF5C-B337A7EB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05BF-F651-1AA4-1AA9-EF80F8F8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of the Project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50ED82-A610-F054-CB6A-4D6353DA7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29292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Develop an AI model to detect fake and phishing websites. </a:t>
            </a:r>
            <a:endParaRPr lang="en-US"/>
          </a:p>
          <a:p>
            <a:pPr>
              <a:buFont typeface="Arial"/>
              <a:buChar char="•"/>
            </a:pPr>
            <a:r>
              <a:rPr lang="en-IN" dirty="0" err="1">
                <a:ea typeface="+mn-lt"/>
                <a:cs typeface="+mn-lt"/>
              </a:rPr>
              <a:t>Analyze</a:t>
            </a:r>
            <a:r>
              <a:rPr lang="en-IN" dirty="0">
                <a:ea typeface="+mn-lt"/>
                <a:cs typeface="+mn-lt"/>
              </a:rPr>
              <a:t> URL and website features for classification. </a:t>
            </a:r>
            <a:endParaRPr lang="en-IN" dirty="0"/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Improve detection accuracy using machine learning. </a:t>
            </a:r>
            <a:endParaRPr lang="en-IN"/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Alert users before they access suspicious websites. </a:t>
            </a:r>
            <a:endParaRPr lang="en-IN"/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Enhance online security and protect user data.</a:t>
            </a:r>
            <a:endParaRPr lang="en-IN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716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2EFA-4F75-31F7-BF01-0023F04F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97D1-470F-866E-82A7-B7BF7F6B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73" y="-3116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Planning and Time Schedule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6E27B8-33A4-F0F5-725D-BE6BB9E72E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649791"/>
              </p:ext>
            </p:extLst>
          </p:nvPr>
        </p:nvGraphicFramePr>
        <p:xfrm>
          <a:off x="838200" y="1121682"/>
          <a:ext cx="10515600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1369474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908089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23912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07492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25942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Task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Week 1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Week 2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Week 3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Week 4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69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 Analysis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11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 Collection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84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Preprocessing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091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Extraction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106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Model Development &amp; Training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282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Testing &amp; Evaluation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730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Documentation &amp; PPT Preparation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186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989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BE69B-48BB-9327-8657-0098D59B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F3FC-72F0-7A54-7974-E73116C0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73" y="-3116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Planning and Time Schedule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1E9D2-400C-374A-F750-41B7D1656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311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Task Allocation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Dataset Collection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AI Model Development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Testing &amp; Validation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Documentation &amp; PPT Preparation 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Milestones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Complete data preparation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Train and evaluate the AI model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Deploy prototype and finalize presentation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6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fake website detection system&#10;&#10;AI-generated content may be incorrect.">
            <a:extLst>
              <a:ext uri="{FF2B5EF4-FFF2-40B4-BE49-F238E27FC236}">
                <a16:creationId xmlns:a16="http://schemas.microsoft.com/office/drawing/2014/main" id="{67174CE0-5612-80DC-B85A-A76C9310C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801" y="169523"/>
            <a:ext cx="9543141" cy="616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0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D26C-08B1-DDCC-AC69-3AACEF98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90B4-4498-0444-8B83-4246EC4E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EFA4A4-230D-2985-2F21-8AFA76F00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Kaggle – </a:t>
            </a:r>
            <a:r>
              <a:rPr lang="en-IN" i="1">
                <a:ea typeface="+mn-lt"/>
                <a:cs typeface="+mn-lt"/>
              </a:rPr>
              <a:t>Phishing Website Dataset</a:t>
            </a:r>
            <a:r>
              <a:rPr lang="en-IN">
                <a:ea typeface="+mn-lt"/>
                <a:cs typeface="+mn-lt"/>
              </a:rPr>
              <a:t> (</a:t>
            </a:r>
            <a:r>
              <a:rPr lang="en-IN" dirty="0">
                <a:ea typeface="+mn-lt"/>
                <a:cs typeface="+mn-lt"/>
                <a:hlinkClick r:id="rId2"/>
              </a:rPr>
              <a:t>https://www.kaggle.com/</a:t>
            </a:r>
            <a:r>
              <a:rPr lang="en-IN">
                <a:ea typeface="+mn-lt"/>
                <a:cs typeface="+mn-lt"/>
              </a:rPr>
              <a:t>) </a:t>
            </a:r>
            <a:endParaRPr lang="en-US"/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UCI Machine Learning Repository – </a:t>
            </a:r>
            <a:r>
              <a:rPr lang="en-IN" i="1">
                <a:ea typeface="+mn-lt"/>
                <a:cs typeface="+mn-lt"/>
              </a:rPr>
              <a:t>Phishing Websites Data Set</a:t>
            </a:r>
            <a:r>
              <a:rPr lang="en-IN" dirty="0">
                <a:ea typeface="+mn-lt"/>
                <a:cs typeface="+mn-lt"/>
              </a:rPr>
              <a:t> </a:t>
            </a:r>
            <a:r>
              <a:rPr lang="en-IN">
                <a:ea typeface="+mn-lt"/>
                <a:cs typeface="+mn-lt"/>
              </a:rPr>
              <a:t>(</a:t>
            </a:r>
            <a:r>
              <a:rPr lang="en-IN" dirty="0">
                <a:ea typeface="+mn-lt"/>
                <a:cs typeface="+mn-lt"/>
                <a:hlinkClick r:id="rId3"/>
              </a:rPr>
              <a:t>https://archive.ics.uci.edu/</a:t>
            </a:r>
            <a:r>
              <a:rPr lang="en-IN">
                <a:ea typeface="+mn-lt"/>
                <a:cs typeface="+mn-lt"/>
              </a:rPr>
              <a:t>) </a:t>
            </a:r>
            <a:endParaRPr lang="en-IN"/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Scikit-learn Documentation – </a:t>
            </a:r>
            <a:r>
              <a:rPr lang="en-IN" dirty="0">
                <a:ea typeface="+mn-lt"/>
                <a:cs typeface="+mn-lt"/>
                <a:hlinkClick r:id="rId4"/>
              </a:rPr>
              <a:t>https://scikit-learn.org/</a:t>
            </a:r>
            <a:r>
              <a:rPr lang="en-IN" dirty="0">
                <a:ea typeface="+mn-lt"/>
                <a:cs typeface="+mn-lt"/>
              </a:rPr>
              <a:t> </a:t>
            </a:r>
            <a:endParaRPr lang="en-IN" dirty="0"/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IEEE Xplore Digital Library – </a:t>
            </a:r>
            <a:r>
              <a:rPr lang="en-IN" dirty="0">
                <a:ea typeface="+mn-lt"/>
                <a:cs typeface="+mn-lt"/>
                <a:hlinkClick r:id="rId5"/>
              </a:rPr>
              <a:t>https://ieeexplore.ieee.org/</a:t>
            </a:r>
            <a:r>
              <a:rPr lang="en-IN" dirty="0">
                <a:ea typeface="+mn-lt"/>
                <a:cs typeface="+mn-lt"/>
              </a:rPr>
              <a:t> </a:t>
            </a:r>
            <a:endParaRPr lang="en-IN" dirty="0"/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Google Safe Browsing – </a:t>
            </a:r>
            <a:r>
              <a:rPr lang="en-IN" dirty="0">
                <a:ea typeface="+mn-lt"/>
                <a:cs typeface="+mn-lt"/>
                <a:hlinkClick r:id="rId6"/>
              </a:rPr>
              <a:t>https://safebrowsing.google.com/</a:t>
            </a:r>
            <a:endParaRPr lang="en-IN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13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5BFE-A197-8561-F3D1-AC6782F2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B956-F31A-B84C-394E-FECA6187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1697"/>
            <a:ext cx="10515600" cy="2474605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5800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156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Problem Identification and Title Justification</vt:lpstr>
      <vt:lpstr>Problem Identification and Title Justification</vt:lpstr>
      <vt:lpstr>Literature Survey</vt:lpstr>
      <vt:lpstr>Objectives of the Project</vt:lpstr>
      <vt:lpstr>Project Planning and Time Schedule</vt:lpstr>
      <vt:lpstr>Project Planning and Time Schedule</vt:lpstr>
      <vt:lpstr>PowerPoint Presentation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Perike</dc:creator>
  <cp:lastModifiedBy>Chandra Sekhar Perike</cp:lastModifiedBy>
  <cp:revision>369</cp:revision>
  <dcterms:created xsi:type="dcterms:W3CDTF">2026-06-12T06:07:18Z</dcterms:created>
  <dcterms:modified xsi:type="dcterms:W3CDTF">2026-06-27T04:18:55Z</dcterms:modified>
</cp:coreProperties>
</file>